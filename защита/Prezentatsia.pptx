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73" r:id="rId4"/>
    <p:sldId id="260" r:id="rId5"/>
    <p:sldId id="263" r:id="rId6"/>
    <p:sldId id="264" r:id="rId7"/>
    <p:sldId id="265" r:id="rId8"/>
    <p:sldId id="266" r:id="rId9"/>
    <p:sldId id="274" r:id="rId10"/>
    <p:sldId id="269" r:id="rId11"/>
    <p:sldId id="271" r:id="rId12"/>
    <p:sldId id="275" r:id="rId13"/>
    <p:sldId id="27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BA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-378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064183"/>
            <a:ext cx="12192000" cy="1540482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ВЫПУСКНАЯ КВАЛИФИКАЦИОННАЯ РАБОТА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76276" y="3756280"/>
            <a:ext cx="8639448" cy="117515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Тема: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автоматизированной информационной системы для службы доставки еды из ресторана  на базе платформы 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NET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447932" y="202935"/>
            <a:ext cx="72961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Министерство образования Нижегородской области</a:t>
            </a:r>
            <a:endParaRPr lang="ru-RU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образовательное учреждение</a:t>
            </a:r>
            <a:endParaRPr lang="ru-RU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«Заволжский автомоторный техникум»</a:t>
            </a:r>
            <a:endParaRPr lang="ru-RU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(ГБПОУ ЗАМТ)</a:t>
            </a:r>
            <a:endParaRPr lang="ru-RU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61046213"/>
              </p:ext>
            </p:extLst>
          </p:nvPr>
        </p:nvGraphicFramePr>
        <p:xfrm>
          <a:off x="230270" y="5083049"/>
          <a:ext cx="11731461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02096">
                  <a:extLst>
                    <a:ext uri="{9D8B030D-6E8A-4147-A177-3AD203B41FA5}">
                      <a16:colId xmlns:a16="http://schemas.microsoft.com/office/drawing/2014/main" xmlns="" val="856406293"/>
                    </a:ext>
                  </a:extLst>
                </a:gridCol>
                <a:gridCol w="5629365">
                  <a:extLst>
                    <a:ext uri="{9D8B030D-6E8A-4147-A177-3AD203B41FA5}">
                      <a16:colId xmlns:a16="http://schemas.microsoft.com/office/drawing/2014/main" xmlns="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Выполнила:</a:t>
                      </a:r>
                      <a:r>
                        <a:rPr lang="ru-RU" baseline="0" dirty="0"/>
                        <a:t> Самойлова Диана Дмитриевна</a:t>
                      </a:r>
                      <a:endParaRPr lang="ru-RU" dirty="0"/>
                    </a:p>
                    <a:p>
                      <a:pPr algn="l"/>
                      <a:r>
                        <a:rPr lang="ru-RU" baseline="0" dirty="0"/>
                        <a:t>                       Студентка группы ИС-22Б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</a:t>
                      </a:r>
                      <a:r>
                        <a:rPr lang="ru-RU" baseline="0" dirty="0"/>
                        <a:t> Фомичева Ольга Владиславовна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239634" y="6026360"/>
            <a:ext cx="1712733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xmlns="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Актуальность 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2450" y="1520890"/>
            <a:ext cx="11087100" cy="5066522"/>
          </a:xfrm>
        </p:spPr>
        <p:txBody>
          <a:bodyPr>
            <a:normAutofit fontScale="92500"/>
          </a:bodyPr>
          <a:lstStyle/>
          <a:p>
            <a:pPr marL="0" indent="540000" algn="just">
              <a:lnSpc>
                <a:spcPct val="135000"/>
              </a:lnSpc>
              <a:spcBef>
                <a:spcPts val="0"/>
              </a:spcBef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Наличие современной и надежной системы обработки заказов является критически важным для обеспечения конкурентоспособности ресторана в современных условиях. Как правило, такие системы требуют больших финансовых вложений, как на этапе внедрения, так и в процессе дальнейшей эксплуатации.</a:t>
            </a:r>
          </a:p>
          <a:p>
            <a:pPr marL="0" indent="540000" algn="just">
              <a:lnSpc>
                <a:spcPct val="135000"/>
              </a:lnSpc>
              <a:spcBef>
                <a:spcPts val="0"/>
              </a:spcBef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Возникает необходимость в разработке системы для автоматизации работы ресторана, которая решила бы эту проблему без потери функционала. Такая система должна исключить необходимость в дорогих разрозненных программах, объединяя управление меню, отслеживание статусов заказов, формирование детальной отчетности и гибкое администрирование в едином доступном решении. </a:t>
            </a:r>
          </a:p>
        </p:txBody>
      </p:sp>
    </p:spTree>
    <p:extLst>
      <p:ext uri="{BB962C8B-B14F-4D97-AF65-F5344CB8AC3E}">
        <p14:creationId xmlns:p14="http://schemas.microsoft.com/office/powerpoint/2010/main" xmlns="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Постановка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2727" y="1313411"/>
            <a:ext cx="1080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 АИС необходимо предусмотреть работу следующих групп пользователей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445" y="1817257"/>
            <a:ext cx="2468880" cy="5248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Системный администратор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настраивать подключение базы данных;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выполнять импорт и экспорт данных в формате .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выполнять резервное копирование и восстановление базы данных;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задавать время бездействия системы.</a:t>
            </a:r>
          </a:p>
          <a:p>
            <a:pPr>
              <a:lnSpc>
                <a:spcPct val="110000"/>
              </a:lnSpc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5265" y="1817257"/>
            <a:ext cx="2585258" cy="3420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Менеджер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вести учет заказов;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вести учет оформленных сертификатов;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формировать чек по заказу 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MS Word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формировать сертификат 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MS Word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82465" y="1817257"/>
            <a:ext cx="2768139" cy="4639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Администратор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добавлять, редактировать и удалять пользователей АИС;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добавлять, редактировать и удалять данные справочников;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просматривать список заказов с возможностью изменения статуса заказа.</a:t>
            </a:r>
          </a:p>
          <a:p>
            <a:pPr>
              <a:lnSpc>
                <a:spcPct val="110000"/>
              </a:lnSpc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02544" y="1817257"/>
            <a:ext cx="2776451" cy="3420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Директор 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просматривать список заказов;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формировать отчет по выручке 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MS Excel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формировать отчет по сертификатам в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pdf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0">
              <a:lnSpc>
                <a:spcPct val="110000"/>
              </a:lnSpc>
              <a:buFont typeface="Arial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формировать статистику по блюдам 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MS Excel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5011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5208" y="4512557"/>
            <a:ext cx="1293942" cy="1347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811" y="4801814"/>
            <a:ext cx="1429903" cy="1275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 descr="https://softmap.ru/upload/iblock/e54/e54939d4e36e17534d4c8d1c8b05c2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23112" y="2047033"/>
            <a:ext cx="1190369" cy="119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50933" y="1947036"/>
            <a:ext cx="1343427" cy="129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254000"/>
            <a:ext cx="12192000" cy="955675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Обоснование выбора среды разработки</a:t>
            </a:r>
          </a:p>
        </p:txBody>
      </p:sp>
      <p:pic>
        <p:nvPicPr>
          <p:cNvPr id="1026" name="Picture 2" descr="https://miro.medium.com/max/1200/1*sXIXxTtZPaylbQMgsbI4G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32716" y="1729328"/>
            <a:ext cx="3624133" cy="17063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logo-download.com/wp-content/data/images/png/C++-logo.pn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9054" t="14795" r="29175" b="15280"/>
          <a:stretch/>
        </p:blipFill>
        <p:spPr bwMode="auto">
          <a:xfrm>
            <a:off x="3611455" y="4561119"/>
            <a:ext cx="1194874" cy="133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miro.medium.com/max/1200/1*w0u2TZpEp3WfKMrlL5jTSw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2585" t="20641" r="25489" b="15409"/>
          <a:stretch/>
        </p:blipFill>
        <p:spPr bwMode="auto">
          <a:xfrm>
            <a:off x="1805330" y="3892838"/>
            <a:ext cx="2236641" cy="25203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s://i0.wp.com/losst.ru/wp-content/uploads/2016/12/sqlite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11834" y="4583620"/>
            <a:ext cx="1880807" cy="125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2" descr="https://24x7servermanagement.com/wp-content/uploads/2016/09/mysql-logo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84918" y="4353373"/>
            <a:ext cx="3269524" cy="17848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17707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БД –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-диаграмма</a:t>
            </a:r>
          </a:p>
        </p:txBody>
      </p:sp>
      <p:pic>
        <p:nvPicPr>
          <p:cNvPr id="1026" name="Рисунок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91838" y="1562792"/>
            <a:ext cx="5676556" cy="4738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112540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Программные модули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338" y="1986741"/>
            <a:ext cx="4588626" cy="366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58989" y="1945178"/>
            <a:ext cx="4829694" cy="388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585857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Программные модули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8763" y="1662545"/>
            <a:ext cx="5308600" cy="417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68043" y="1487979"/>
            <a:ext cx="5519651" cy="4559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28861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Программные модули</a:t>
            </a:r>
            <a:endParaRPr lang="ru-RU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1025" y="1803862"/>
            <a:ext cx="4694238" cy="354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34545" y="1729048"/>
            <a:ext cx="5241925" cy="393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77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Программные модули</a:t>
            </a:r>
            <a:endParaRPr lang="ru-RU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8764" y="1662546"/>
            <a:ext cx="5330825" cy="405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67549" y="1729047"/>
            <a:ext cx="5419725" cy="380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77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Применяемые меры защиты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325514" y="1339057"/>
            <a:ext cx="1546962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Маски ввода</a:t>
            </a:r>
            <a:endParaRPr lang="ru-RU" sz="11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196211" y="1310948"/>
            <a:ext cx="3542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Скрытие пароля при его вводе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800475" y="1298216"/>
            <a:ext cx="41882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Удаление записей из базы данных осуществляется только после подтверждения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81950" y="1747838"/>
            <a:ext cx="3667125" cy="934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5" y="2163214"/>
            <a:ext cx="2895600" cy="133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429625" y="3971925"/>
            <a:ext cx="2843893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Прямоугольник 9"/>
          <p:cNvSpPr/>
          <p:nvPr/>
        </p:nvSpPr>
        <p:spPr>
          <a:xfrm>
            <a:off x="7762481" y="3012860"/>
            <a:ext cx="4424096" cy="8720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Проверка на заполнение обязательных</a:t>
            </a:r>
          </a:p>
          <a:p>
            <a:pPr lvl="0" algn="ctr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полей</a:t>
            </a:r>
            <a:endParaRPr lang="ru-RU" sz="11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5404" y="4312400"/>
            <a:ext cx="2846974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Прямоугольник 11"/>
          <p:cNvSpPr/>
          <p:nvPr/>
        </p:nvSpPr>
        <p:spPr>
          <a:xfrm>
            <a:off x="50425" y="3772090"/>
            <a:ext cx="3641318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Контроль дублирования данных</a:t>
            </a:r>
            <a:endParaRPr lang="ru-RU" sz="11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28144" y="4177607"/>
            <a:ext cx="3093776" cy="2181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Прямоугольник 13"/>
          <p:cNvSpPr/>
          <p:nvPr/>
        </p:nvSpPr>
        <p:spPr>
          <a:xfrm>
            <a:off x="4098471" y="3691733"/>
            <a:ext cx="4240393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Сообщение о неудачной авторизации</a:t>
            </a:r>
            <a:endParaRPr lang="ru-RU" sz="11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73083" y="1845425"/>
            <a:ext cx="2435629" cy="1820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838169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79820" y="1511393"/>
            <a:ext cx="10706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Цена разработки программного продукта: </a:t>
            </a:r>
            <a:r>
              <a:rPr lang="en-US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ru-RU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90</a:t>
            </a:r>
            <a:r>
              <a:rPr lang="en-US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70</a:t>
            </a:r>
            <a:r>
              <a:rPr lang="ru-RU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рублей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Обоснование экономической эффективности</a:t>
            </a:r>
          </a:p>
          <a:p>
            <a:pPr algn="ctr"/>
            <a:endParaRPr lang="ru-RU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xmlns="" id="{F5330AB1-4CB7-46FB-4623-3FF9F9E4F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24967424"/>
              </p:ext>
            </p:extLst>
          </p:nvPr>
        </p:nvGraphicFramePr>
        <p:xfrm>
          <a:off x="802411" y="2097878"/>
          <a:ext cx="10460919" cy="32004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{912C8C85-51F0-491E-9774-3900AFEF0FD7}</a:tableStyleId>
              </a:tblPr>
              <a:tblGrid>
                <a:gridCol w="1910164">
                  <a:extLst>
                    <a:ext uri="{9D8B030D-6E8A-4147-A177-3AD203B41FA5}">
                      <a16:colId xmlns:a16="http://schemas.microsoft.com/office/drawing/2014/main" xmlns="" val="1210811606"/>
                    </a:ext>
                  </a:extLst>
                </a:gridCol>
                <a:gridCol w="5759782">
                  <a:extLst>
                    <a:ext uri="{9D8B030D-6E8A-4147-A177-3AD203B41FA5}">
                      <a16:colId xmlns:a16="http://schemas.microsoft.com/office/drawing/2014/main" xmlns="" val="3544711627"/>
                    </a:ext>
                  </a:extLst>
                </a:gridCol>
                <a:gridCol w="2790973">
                  <a:extLst>
                    <a:ext uri="{9D8B030D-6E8A-4147-A177-3AD203B41FA5}">
                      <a16:colId xmlns:a16="http://schemas.microsoft.com/office/drawing/2014/main" xmlns="" val="2345838068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п/п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Значение, руб.</a:t>
                      </a:r>
                      <a:endParaRPr lang="ru-RU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718790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Себестоимость программного продукта (руб.)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44570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374026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Затраты на продвижение ПП (руб.)</a:t>
                      </a:r>
                      <a:endParaRPr lang="ru-RU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4500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18511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Цена разработки ПП (руб.)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49070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148674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ru-RU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Отпускная цена (руб.)</a:t>
                      </a:r>
                      <a:endParaRPr lang="ru-RU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1500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727388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ru-RU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Срок окупаемости (мес.)</a:t>
                      </a:r>
                      <a:endParaRPr lang="ru-RU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13422403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B7599E60-BF1D-A9E2-E68B-75CFC2657DE7}"/>
              </a:ext>
            </a:extLst>
          </p:cNvPr>
          <p:cNvSpPr/>
          <p:nvPr/>
        </p:nvSpPr>
        <p:spPr>
          <a:xfrm>
            <a:off x="671507" y="5328827"/>
            <a:ext cx="10706100" cy="824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25000"/>
              </a:lnSpc>
              <a:spcBef>
                <a:spcPts val="600"/>
              </a:spcBef>
              <a:tabLst>
                <a:tab pos="1880870" algn="l"/>
              </a:tabLst>
            </a:pP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Произведенные расчеты показывают, что разработанный программный продукт является эффективным с экономической точки зрения.</a:t>
            </a: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226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2881" y="1528019"/>
            <a:ext cx="11088312" cy="46635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>
              <a:lnSpc>
                <a:spcPct val="125000"/>
              </a:lnSpc>
              <a:spcAft>
                <a:spcPts val="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ходе выполнения выпускной квалификационной работы была создана автоматизированная информационная система, которая полностью соответствует заявленным требованиям.</a:t>
            </a:r>
          </a:p>
          <a:p>
            <a:pPr indent="540385">
              <a:lnSpc>
                <a:spcPct val="125000"/>
              </a:lnSpc>
              <a:spcAft>
                <a:spcPts val="0"/>
              </a:spcAft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540385">
              <a:lnSpc>
                <a:spcPct val="125000"/>
              </a:lnSpc>
              <a:spcAft>
                <a:spcPts val="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За время работы над проектом были улучшены навыки по работе с платформой .NET, а также приобретен навык по разработке реальных проектов.</a:t>
            </a:r>
            <a:b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540385">
              <a:lnSpc>
                <a:spcPct val="125000"/>
              </a:lnSpc>
              <a:spcAft>
                <a:spcPts val="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Программный продукт может быть внедрен для автоматизации службы доставки еды, а также использоваться как портфолио на собеседовании.</a:t>
            </a:r>
            <a:endParaRPr lang="ru-RU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xmlns="" val="98226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064183"/>
            <a:ext cx="12192000" cy="1540482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ВЫПУСКНАЯ КВАЛИФИКАЦИОННАЯ РАБОТА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76276" y="3756280"/>
            <a:ext cx="8639448" cy="117515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Тема: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автоматизированной информационной системы для службы доставки еды из ресторана  на базе платформы 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NET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447932" y="202935"/>
            <a:ext cx="72961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Министерство образования Нижегородской области</a:t>
            </a:r>
            <a:endParaRPr lang="ru-RU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образовательное учреждение</a:t>
            </a:r>
            <a:endParaRPr lang="ru-RU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«Заволжский автомоторный техникум»</a:t>
            </a:r>
            <a:endParaRPr lang="ru-RU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(ГБПОУ ЗАМТ)</a:t>
            </a:r>
            <a:endParaRPr lang="ru-RU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30270" y="5083049"/>
          <a:ext cx="11731461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02096">
                  <a:extLst>
                    <a:ext uri="{9D8B030D-6E8A-4147-A177-3AD203B41FA5}">
                      <a16:colId xmlns:a16="http://schemas.microsoft.com/office/drawing/2014/main" xmlns="" val="856406293"/>
                    </a:ext>
                  </a:extLst>
                </a:gridCol>
                <a:gridCol w="5629365">
                  <a:extLst>
                    <a:ext uri="{9D8B030D-6E8A-4147-A177-3AD203B41FA5}">
                      <a16:colId xmlns:a16="http://schemas.microsoft.com/office/drawing/2014/main" xmlns="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Выполнила:</a:t>
                      </a:r>
                      <a:r>
                        <a:rPr lang="ru-RU" baseline="0" dirty="0"/>
                        <a:t> Самойлова Диана Дмитриевна</a:t>
                      </a:r>
                      <a:endParaRPr lang="ru-RU" dirty="0"/>
                    </a:p>
                    <a:p>
                      <a:pPr algn="l"/>
                      <a:r>
                        <a:rPr lang="ru-RU" baseline="0" dirty="0"/>
                        <a:t>                       Студентка группы ИС-22Б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</a:t>
                      </a:r>
                      <a:r>
                        <a:rPr lang="ru-RU" baseline="0" dirty="0"/>
                        <a:t> Фомичева Ольга Владиславовна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239634" y="6026360"/>
            <a:ext cx="1712733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xmlns="" val="18070134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</TotalTime>
  <Words>459</Words>
  <Application>Microsoft Office PowerPoint</Application>
  <PresentationFormat>Произвольный</PresentationFormat>
  <Paragraphs>87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ВЫПУСКНАЯ КВАЛИФИКАЦИОННАЯ РАБОТА</vt:lpstr>
      <vt:lpstr>Актуальность темы</vt:lpstr>
      <vt:lpstr>Постановка задачи</vt:lpstr>
      <vt:lpstr>Обоснование выбора среды разработки</vt:lpstr>
      <vt:lpstr>Структура БД – ER-диаграмма</vt:lpstr>
      <vt:lpstr>Программные модули</vt:lpstr>
      <vt:lpstr>Программные модули</vt:lpstr>
      <vt:lpstr>Слайд 8</vt:lpstr>
      <vt:lpstr>Слайд 9</vt:lpstr>
      <vt:lpstr>Слайд 10</vt:lpstr>
      <vt:lpstr>Слайд 11</vt:lpstr>
      <vt:lpstr>Слайд 12</vt:lpstr>
      <vt:lpstr>ВЫПУСКНАЯ КВАЛИФИКАЦИОННАЯ РАБОТА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kartavaadiana18@gmail.com</cp:lastModifiedBy>
  <cp:revision>55</cp:revision>
  <dcterms:created xsi:type="dcterms:W3CDTF">2022-06-15T10:15:27Z</dcterms:created>
  <dcterms:modified xsi:type="dcterms:W3CDTF">2026-06-21T22:46:10Z</dcterms:modified>
</cp:coreProperties>
</file>